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29768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289304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148840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008376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867912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727448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728" y="0"/>
            <a:ext cx="18288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56032"/>
            <a:ext cx="3639312" cy="237744"/>
          </a:xfrm>
          <a:prstGeom prst="rect">
            <a:avLst/>
          </a:prstGeom>
          <a:solidFill>
            <a:srgbClr val="00D4FF">
              <a:alpha val="18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56032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CONFIDENTIAL  ·  INVESTOR BRIEF  ·  2025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804672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</a:t>
            </a:r>
            <a:endParaRPr lang="en-US" sz="7600" dirty="0"/>
          </a:p>
        </p:txBody>
      </p:sp>
      <p:sp>
        <p:nvSpPr>
          <p:cNvPr id="39" name="Text 37"/>
          <p:cNvSpPr/>
          <p:nvPr/>
        </p:nvSpPr>
        <p:spPr>
          <a:xfrm>
            <a:off x="457200" y="171907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spc="40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RACING CIRCUIT</a:t>
            </a:r>
            <a:endParaRPr lang="en-US" sz="5000" dirty="0"/>
          </a:p>
        </p:txBody>
      </p:sp>
      <p:sp>
        <p:nvSpPr>
          <p:cNvPr id="40" name="Text 38"/>
          <p:cNvSpPr/>
          <p:nvPr/>
        </p:nvSpPr>
        <p:spPr>
          <a:xfrm>
            <a:off x="457200" y="24871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spc="400" kern="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 v2</a:t>
            </a:r>
            <a:endParaRPr lang="en-US" sz="5000" dirty="0"/>
          </a:p>
        </p:txBody>
      </p:sp>
      <p:sp>
        <p:nvSpPr>
          <p:cNvPr id="41" name="Shape 39"/>
          <p:cNvSpPr/>
          <p:nvPr/>
        </p:nvSpPr>
        <p:spPr>
          <a:xfrm>
            <a:off x="457200" y="3429000"/>
            <a:ext cx="6400800" cy="27432"/>
          </a:xfrm>
          <a:prstGeom prst="rect">
            <a:avLst/>
          </a:prstGeom>
          <a:solidFill>
            <a:srgbClr val="8A9BB5">
              <a:alpha val="60000"/>
            </a:srgbClr>
          </a:solidFill>
          <a:ln w="12700">
            <a:solidFill>
              <a:srgbClr val="8A9B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Edge AI  ×  Airspeeder  ×  Jetson ONE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Manned + Unmanned  ·  MRSSP Live Validation  ·  New Racing Category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alphatedge.ai  ·  2025  ·  STRICTLY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704442" cy="237744"/>
          </a:xfrm>
          <a:prstGeom prst="rect">
            <a:avLst/>
          </a:prstGeom>
          <a:solidFill>
            <a:srgbClr val="00D4FF">
              <a:alpha val="18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7044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EXECUTIVE SUMMARY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Platform. Three Breakthroughs.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697480" cy="3566160"/>
          </a:xfrm>
          <a:prstGeom prst="rect">
            <a:avLst/>
          </a:prstGeom>
          <a:solidFill>
            <a:srgbClr val="0D1A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26974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MRSSP Goes Live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2331720" cy="18288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395728"/>
            <a:ext cx="24871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 Racing Circuit Platform is the first real-world stress-test environment for the MRSSP protocol — converting controlled racing conditions into trusted proof-of-concept data for enterprise and government clients.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261872"/>
            <a:ext cx="2697480" cy="3566160"/>
          </a:xfrm>
          <a:prstGeom prst="rect">
            <a:avLst/>
          </a:prstGeom>
          <a:solidFill>
            <a:srgbClr val="0D1A35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61872"/>
            <a:ext cx="269748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4173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46120" y="190195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Dual-Class Competition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29000" y="2304288"/>
            <a:ext cx="2331720" cy="18288"/>
          </a:xfrm>
          <a:prstGeom prst="rect">
            <a:avLst/>
          </a:prstGeom>
          <a:solidFill>
            <a:srgbClr val="FF6B00">
              <a:alpha val="5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2395728"/>
            <a:ext cx="24871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racing series to run manned (Airspeeder Mk4 + Jetson ONE crew vehicles) and unmanned autonomous craft in the same event, same gates, same scoring engine — simultaneously.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261872"/>
            <a:ext cx="2697480" cy="3566160"/>
          </a:xfrm>
          <a:prstGeom prst="rect">
            <a:avLst/>
          </a:prstGeom>
          <a:solidFill>
            <a:srgbClr val="0D1A35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261872"/>
            <a:ext cx="269748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4173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126480" y="190195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Trust Flywheel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304288"/>
            <a:ext cx="2331720" cy="18288"/>
          </a:xfrm>
          <a:prstGeom prst="rect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2395728"/>
            <a:ext cx="24871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Racing validates MRSSP. Validated MRSSP unlocks aviation, logistics, and defense contracts. Each race is a live investor roadshow and enterprise sales event.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956816" cy="237744"/>
          </a:xfrm>
          <a:prstGeom prst="rect">
            <a:avLst/>
          </a:prstGeom>
          <a:solidFill>
            <a:srgbClr val="FF3B5C">
              <a:alpha val="18000"/>
            </a:srgbClr>
          </a:solidFill>
          <a:ln w="10160">
            <a:solidFill>
              <a:srgbClr val="FF3B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3B5C"/>
                </a:solidFill>
              </a:rPr>
              <a:t>THE INVESTOR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Industry Won't Trust AI Protocols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Without Real-World Proof.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160520" cy="1417320"/>
          </a:xfrm>
          <a:prstGeom prst="rect">
            <a:avLst/>
          </a:prstGeom>
          <a:solidFill>
            <a:srgbClr val="1A2A4A"/>
          </a:solidFill>
          <a:ln w="10160">
            <a:solidFill>
              <a:srgbClr val="FF3B5C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642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Regulators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FAA/EASA require 36+ months operational validation before approving autonomous air systems for commercial use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572768"/>
            <a:ext cx="4160520" cy="1417320"/>
          </a:xfrm>
          <a:prstGeom prst="rect">
            <a:avLst/>
          </a:prstGeom>
          <a:solidFill>
            <a:srgbClr val="1A2A4A"/>
          </a:solidFill>
          <a:ln w="10160">
            <a:solidFill>
              <a:srgbClr val="FF3B5C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6642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Investors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protocol startups raise at 10x lower valuations without live operational data — simulations are no longer enough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45536"/>
            <a:ext cx="4160520" cy="1417320"/>
          </a:xfrm>
          <a:prstGeom prst="rect">
            <a:avLst/>
          </a:prstGeom>
          <a:solidFill>
            <a:srgbClr val="1A2A4A"/>
          </a:solidFill>
          <a:ln w="10160">
            <a:solidFill>
              <a:srgbClr val="FF3B5C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2369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Enterprise Clients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procurement teams reject unvalidated AI infrastructure. Proof-of-concept must be real, documented, and repeatable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3145536"/>
            <a:ext cx="4160520" cy="1417320"/>
          </a:xfrm>
          <a:prstGeom prst="rect">
            <a:avLst/>
          </a:prstGeom>
          <a:solidFill>
            <a:srgbClr val="1A2A4A"/>
          </a:solidFill>
          <a:ln w="10160">
            <a:solidFill>
              <a:srgbClr val="FF3B5C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32369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Aviation Industry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58444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air traffic protocol requires years of incident-free operation to achieve industry adoption and insurance backing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040941" cy="237744"/>
          </a:xfrm>
          <a:prstGeom prst="rect">
            <a:avLst/>
          </a:prstGeom>
          <a:solidFill>
            <a:srgbClr val="00D4FF">
              <a:alpha val="18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04094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MRSSP LIVE VALIDATION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Racing is the Proof-of-Concept.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4297680" cy="3657600"/>
          </a:xfrm>
          <a:prstGeom prst="rect">
            <a:avLst/>
          </a:prstGeom>
          <a:solidFill>
            <a:srgbClr val="0D1A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07008"/>
            <a:ext cx="54864" cy="3657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9844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Racing Validates MRSSP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691640"/>
            <a:ext cx="39776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Racing creates controlled, high-stakes, time-pressured conditions that mirror enterprise mission-critical environments — but with: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 telemetry under load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Failure modes at speed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Multi-vehicle coordination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Edge-case recovery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Documented, repeatable results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race event = 6–8 hours of live MRSSP protocol stress-testing, producing independently verifiable performance data for regulators, insurers, and enterprise clients.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92040" y="1207008"/>
            <a:ext cx="3886200" cy="822960"/>
          </a:xfrm>
          <a:prstGeom prst="rect">
            <a:avLst/>
          </a:prstGeom>
          <a:solidFill>
            <a:srgbClr val="1A2A4A"/>
          </a:solidFill>
          <a:ln w="1143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207008"/>
            <a:ext cx="658368" cy="822960"/>
          </a:xfrm>
          <a:prstGeom prst="rect">
            <a:avLst/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07008"/>
            <a:ext cx="65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0408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23560" y="125272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Event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3560" y="1554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multi-vehicle MRSSP gate execution under competitive pressure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201168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2139696"/>
            <a:ext cx="3886200" cy="822960"/>
          </a:xfrm>
          <a:prstGeom prst="rect">
            <a:avLst/>
          </a:prstGeom>
          <a:solidFill>
            <a:srgbClr val="1A2A4A"/>
          </a:solidFill>
          <a:ln w="1143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139696"/>
            <a:ext cx="658368" cy="822960"/>
          </a:xfrm>
          <a:prstGeom prst="rect">
            <a:avLst/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139696"/>
            <a:ext cx="65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0408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23560" y="218541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23560" y="248716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telemetry, error logs, recovery events, mission scores archived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49240" y="294436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3072384"/>
            <a:ext cx="3886200" cy="822960"/>
          </a:xfrm>
          <a:prstGeom prst="rect">
            <a:avLst/>
          </a:prstGeom>
          <a:solidFill>
            <a:srgbClr val="1A2A4A"/>
          </a:solidFill>
          <a:ln w="11430">
            <a:solidFill>
              <a:srgbClr val="FF6B0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3072384"/>
            <a:ext cx="658368" cy="822960"/>
          </a:xfrm>
          <a:prstGeom prst="rect">
            <a:avLst/>
          </a:prstGeom>
          <a:solidFill>
            <a:srgbClr val="FF6B00">
              <a:alpha val="85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072384"/>
            <a:ext cx="65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0408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23560" y="311810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Review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0" y="3419856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aviation &amp; AI auditors certify protocol performance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49240" y="387705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00"/>
                </a:solidFill>
              </a:rPr>
              <a:t>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4005072"/>
            <a:ext cx="3886200" cy="822960"/>
          </a:xfrm>
          <a:prstGeom prst="rect">
            <a:avLst/>
          </a:prstGeom>
          <a:solidFill>
            <a:srgbClr val="1A2A4A"/>
          </a:solidFill>
          <a:ln w="11430">
            <a:solidFill>
              <a:srgbClr val="00FF8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4005072"/>
            <a:ext cx="658368" cy="822960"/>
          </a:xfrm>
          <a:prstGeom prst="rect">
            <a:avLst/>
          </a:prstGeom>
          <a:solidFill>
            <a:srgbClr val="00FF88">
              <a:alpha val="8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4005072"/>
            <a:ext cx="65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0408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23560" y="405079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Trust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23560" y="435254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MRSSP presented to regulators, clients, and capital markets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4800600"/>
            <a:ext cx="3886200" cy="1828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209190" cy="237744"/>
          </a:xfrm>
          <a:prstGeom prst="rect">
            <a:avLst/>
          </a:prstGeom>
          <a:solidFill>
            <a:srgbClr val="00FF88">
              <a:alpha val="18000"/>
            </a:srgbClr>
          </a:solidFill>
          <a:ln w="1016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2091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88"/>
                </a:solidFill>
              </a:rPr>
              <a:t>INDUSTRY TRUST FLYWHEEL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Race Series.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Markets Unlocked.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474720" y="438912"/>
            <a:ext cx="2194560" cy="1508760"/>
          </a:xfrm>
          <a:prstGeom prst="rect">
            <a:avLst/>
          </a:prstGeom>
          <a:solidFill>
            <a:srgbClr val="1A2A4A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0" y="438912"/>
            <a:ext cx="219456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5760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RACE EVENTS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005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MRCP Competition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10789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BB5"/>
                </a:solidFill>
              </a:rPr>
              <a:t>→ validates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0" y="438912"/>
            <a:ext cx="2194560" cy="1508760"/>
          </a:xfrm>
          <a:prstGeom prst="rect">
            <a:avLst/>
          </a:prstGeom>
          <a:solidFill>
            <a:srgbClr val="1A2A4A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0" y="438912"/>
            <a:ext cx="219456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5760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MRSSP PROTOCOL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1005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38160" y="10789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BB5"/>
                </a:solidFill>
              </a:rPr>
              <a:t>→ unlocks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2148840"/>
            <a:ext cx="2194560" cy="1508760"/>
          </a:xfrm>
          <a:prstGeom prst="rect">
            <a:avLst/>
          </a:prstGeom>
          <a:solidFill>
            <a:srgbClr val="1A2A4A"/>
          </a:solidFill>
          <a:ln w="15240">
            <a:solidFill>
              <a:srgbClr val="FF6B0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2148840"/>
            <a:ext cx="219456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2860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 SALES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7157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AI Infra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38160" y="2788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BB5"/>
                </a:solidFill>
              </a:rPr>
              <a:t>→ funds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0" y="2148840"/>
            <a:ext cx="2194560" cy="1508760"/>
          </a:xfrm>
          <a:prstGeom prst="rect">
            <a:avLst/>
          </a:prstGeom>
          <a:solidFill>
            <a:srgbClr val="1A2A4A"/>
          </a:solidFill>
          <a:ln w="15240">
            <a:solidFill>
              <a:srgbClr val="FF6B0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0" y="2148840"/>
            <a:ext cx="219456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2860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AVIATION SECTOR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27157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Approval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2788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BB5"/>
                </a:solidFill>
              </a:rPr>
              <a:t>→ validates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05840" y="1280160"/>
            <a:ext cx="2194560" cy="1508760"/>
          </a:xfrm>
          <a:prstGeom prst="rect">
            <a:avLst/>
          </a:prstGeom>
          <a:solidFill>
            <a:srgbClr val="1A2A4A"/>
          </a:solidFill>
          <a:ln w="15240">
            <a:solidFill>
              <a:srgbClr val="00FF8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5840" y="1280160"/>
            <a:ext cx="219456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14173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CAPITAL MARKETS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1847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Trust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886200"/>
            <a:ext cx="1993392" cy="1051560"/>
          </a:xfrm>
          <a:prstGeom prst="rect">
            <a:avLst/>
          </a:prstGeom>
          <a:solidFill>
            <a:srgbClr val="0D1A35"/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95020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$40B+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365760" y="4407408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UAM market by 2035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via MRSSP trust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42032" y="3886200"/>
            <a:ext cx="1993392" cy="1051560"/>
          </a:xfrm>
          <a:prstGeom prst="rect">
            <a:avLst/>
          </a:prstGeom>
          <a:solidFill>
            <a:srgbClr val="0D1A35"/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42032" y="395020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2542032" y="4407408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industries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 by 1 race series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18304" y="3886200"/>
            <a:ext cx="1993392" cy="1051560"/>
          </a:xfrm>
          <a:prstGeom prst="rect">
            <a:avLst/>
          </a:prstGeom>
          <a:solidFill>
            <a:srgbClr val="0D1A35"/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395020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&gt;99.5%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4718304" y="4407408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protocol uptime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regulatory certification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94576" y="3886200"/>
            <a:ext cx="1993392" cy="1051560"/>
          </a:xfrm>
          <a:prstGeom prst="rect">
            <a:avLst/>
          </a:prstGeom>
          <a:solidFill>
            <a:srgbClr val="0D1A35"/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94576" y="395020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 mo.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894576" y="4407408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enterprise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from validated data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461565" cy="237744"/>
          </a:xfrm>
          <a:prstGeom prst="rect">
            <a:avLst/>
          </a:prstGeom>
          <a:solidFill>
            <a:srgbClr val="FF6B00">
              <a:alpha val="18000"/>
            </a:srgbClr>
          </a:solidFill>
          <a:ln w="1016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461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00"/>
                </a:solidFill>
              </a:rPr>
              <a:t>VEHICLE CLASS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Manned + Unmanned. One Circuit.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60520" cy="3703320"/>
          </a:xfrm>
          <a:prstGeom prst="rect">
            <a:avLst/>
          </a:prstGeom>
          <a:solidFill>
            <a:srgbClr val="0D1A35"/>
          </a:solidFill>
          <a:ln w="19050">
            <a:solidFill>
              <a:srgbClr val="FF6B0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416052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25296"/>
            <a:ext cx="1097280" cy="237744"/>
          </a:xfrm>
          <a:prstGeom prst="rect">
            <a:avLst/>
          </a:prstGeom>
          <a:solidFill>
            <a:srgbClr val="FF6B00">
              <a:alpha val="18000"/>
            </a:srgbClr>
          </a:solidFill>
          <a:ln w="10160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252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00"/>
                </a:solidFill>
              </a:rPr>
              <a:t>CLASS 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5087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MANNED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48640" y="2029968"/>
            <a:ext cx="3703320" cy="18288"/>
          </a:xfrm>
          <a:prstGeom prst="rect">
            <a:avLst/>
          </a:prstGeom>
          <a:solidFill>
            <a:srgbClr val="FF6B00">
              <a:alpha val="5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121408"/>
            <a:ext cx="3703320" cy="1115568"/>
          </a:xfrm>
          <a:prstGeom prst="rect">
            <a:avLst/>
          </a:prstGeom>
          <a:solidFill>
            <a:srgbClr val="1A2A4A"/>
          </a:solidFill>
          <a:ln w="8890">
            <a:solidFill>
              <a:srgbClr val="FF6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128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Airspeeder Mk4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50545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racing platform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73405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hp electric · 200 km/h top speed · Gyroscopic stability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419856"/>
            <a:ext cx="3703320" cy="1115568"/>
          </a:xfrm>
          <a:prstGeom prst="rect">
            <a:avLst/>
          </a:prstGeom>
          <a:solidFill>
            <a:srgbClr val="1A2A4A"/>
          </a:solidFill>
          <a:ln w="8890">
            <a:solidFill>
              <a:srgbClr val="FF6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1129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Jetson ONE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8039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/ access vehicle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0325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Single-seat personal eVTOL · 102 km/h · Ultralight FAA category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170432"/>
            <a:ext cx="4160520" cy="3703320"/>
          </a:xfrm>
          <a:prstGeom prst="rect">
            <a:avLst/>
          </a:prstGeom>
          <a:solidFill>
            <a:srgbClr val="0D1A3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170432"/>
            <a:ext cx="41605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225296"/>
            <a:ext cx="1097280" cy="237744"/>
          </a:xfrm>
          <a:prstGeom prst="rect">
            <a:avLst/>
          </a:prstGeom>
          <a:solidFill>
            <a:srgbClr val="00D4FF">
              <a:alpha val="18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2252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CLASS 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63440" y="15087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UNMANNED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4892040" y="2029968"/>
            <a:ext cx="3703320" cy="18288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2121408"/>
            <a:ext cx="3703320" cy="1115568"/>
          </a:xfrm>
          <a:prstGeom prst="rect">
            <a:avLst/>
          </a:prstGeom>
          <a:solidFill>
            <a:srgbClr val="1A2A4A"/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2128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Autonomous Racing Drones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250545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Speed-class autonomous craft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273405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pilot · Reactive collision avoidance · Full telemetry stream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419856"/>
            <a:ext cx="3703320" cy="1115568"/>
          </a:xfrm>
          <a:prstGeom prst="rect">
            <a:avLst/>
          </a:prstGeom>
          <a:solidFill>
            <a:srgbClr val="1A2A4A"/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51129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Payload Challenge Craft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38039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Mission-specialist class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40325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payload · Route optimization AI · Energy management scoring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040941" cy="237744"/>
          </a:xfrm>
          <a:prstGeom prst="rect">
            <a:avLst/>
          </a:prstGeom>
          <a:solidFill>
            <a:srgbClr val="FFB800">
              <a:alpha val="18000"/>
            </a:srgbClr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04094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800"/>
                </a:solidFill>
              </a:rPr>
              <a:t>PARTNERSHIP EXPANSION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Jetson ONE: Crew Access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Manned Competition Class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251960" cy="3456432"/>
          </a:xfrm>
          <a:prstGeom prst="rect">
            <a:avLst/>
          </a:prstGeom>
          <a:solidFill>
            <a:srgbClr val="0D1A35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251960" cy="457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361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Jetson ONE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3931920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ONE is a production-ready single-seat eVTOL with FAA ultralight certification — the only commercially available manned personal aircraft ready for structured racing integration today.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MRCP, Jetson ONE serves two critical roles: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Crew &amp; Talent Access Vehicle — VIP passengers, race officials, and media teams fly between circuit gates in the same airspace as the competition craft, experiencing the MRSSP environment first-hand.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Class A Light Racing Category — A dedicated Jetson ONE bracket lets pilots from outside professional motorsport compete in the Mission Gate format, dramatically widening the competitor and fan base.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2011680" cy="713232"/>
          </a:xfrm>
          <a:prstGeom prst="rect">
            <a:avLst/>
          </a:prstGeom>
          <a:solidFill>
            <a:srgbClr val="1A2A4A"/>
          </a:solidFill>
          <a:ln w="8890">
            <a:solidFill>
              <a:srgbClr val="FFB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463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102 km/h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183794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Speed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31152" y="1417320"/>
            <a:ext cx="2011680" cy="713232"/>
          </a:xfrm>
          <a:prstGeom prst="rect">
            <a:avLst/>
          </a:prstGeom>
          <a:solidFill>
            <a:srgbClr val="1A2A4A"/>
          </a:solidFill>
          <a:ln w="8890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31152" y="1463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min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31152" y="183794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Time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2258568"/>
            <a:ext cx="2011680" cy="713232"/>
          </a:xfrm>
          <a:prstGeom prst="rect">
            <a:avLst/>
          </a:prstGeom>
          <a:solidFill>
            <a:srgbClr val="1A2A4A"/>
          </a:solidFill>
          <a:ln w="8890">
            <a:solidFill>
              <a:srgbClr val="FFB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304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 kg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54880" y="2679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31152" y="2258568"/>
            <a:ext cx="2011680" cy="713232"/>
          </a:xfrm>
          <a:prstGeom prst="rect">
            <a:avLst/>
          </a:prstGeom>
          <a:solidFill>
            <a:srgbClr val="1A2A4A"/>
          </a:solidFill>
          <a:ln w="8890">
            <a:solidFill>
              <a:srgbClr val="FFB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2304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FAA Ultralight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31152" y="2679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3099816"/>
            <a:ext cx="2011680" cy="713232"/>
          </a:xfrm>
          <a:prstGeom prst="rect">
            <a:avLst/>
          </a:prstGeom>
          <a:solidFill>
            <a:srgbClr val="1A2A4A"/>
          </a:solidFill>
          <a:ln w="8890">
            <a:solidFill>
              <a:srgbClr val="FFB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1455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$92,000 USD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54880" y="3520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31152" y="3099816"/>
            <a:ext cx="2011680" cy="713232"/>
          </a:xfrm>
          <a:prstGeom prst="rect">
            <a:avLst/>
          </a:prstGeom>
          <a:solidFill>
            <a:srgbClr val="1A2A4A"/>
          </a:solidFill>
          <a:ln w="8890">
            <a:solidFill>
              <a:srgbClr val="FFB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31152" y="31455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 Ready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31152" y="3520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3950208"/>
            <a:ext cx="4023360" cy="868680"/>
          </a:xfrm>
          <a:prstGeom prst="rect">
            <a:avLst/>
          </a:prstGeom>
          <a:solidFill>
            <a:srgbClr val="0D1A35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402336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Commercially insurable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pilot license required (ultralight)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Immediate production availability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Opens MRCP to global pilot pool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125066" cy="237744"/>
          </a:xfrm>
          <a:prstGeom prst="rect">
            <a:avLst/>
          </a:prstGeom>
          <a:solidFill>
            <a:srgbClr val="00D4FF">
              <a:alpha val="18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1250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UNIFIED SCORING SYSTEM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Same Gates. Same AI Judge.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Different Vehicle Classes.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17320"/>
          <a:ext cx="8503920" cy="34290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2377440"/>
                <a:gridCol w="100584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9BB5"/>
                          </a:solidFill>
                        </a:rPr>
                        <a:t>SCORING DIMENSION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00"/>
                          </a:solidFill>
                        </a:rPr>
                        <a:t>CLASS A MANNED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00"/>
                          </a:solidFill>
                        </a:rPr>
                        <a:t>Airspeeder / Jetson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</a:rPr>
                        <a:t>CLASS B UNMANNED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</a:rPr>
                        <a:t>Autonomous Craft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9BB5"/>
                          </a:solidFill>
                        </a:rPr>
                        <a:t>WEIGHT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Gate Time (raw speed)</a:t>
                      </a:r>
                      <a:endParaRPr lang="en-US" sz="1100" dirty="0"/>
                    </a:p>
                  </a:txBody>
                  <a:tcPr marL="73152" marR="73152" marT="0" marB="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00"/>
                          </a:solidFill>
                        </a:rPr>
                        <a:t>Pilot reaction + aircraft</a:t>
                      </a:r>
                      <a:endParaRPr lang="en-US" sz="1100" dirty="0"/>
                    </a:p>
                  </a:txBody>
                  <a:tcPr marL="73152" marR="73152" marT="0" marB="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</a:rPr>
                        <a:t>Autonomous path optimization</a:t>
                      </a:r>
                      <a:endParaRPr lang="en-US" sz="1100" dirty="0"/>
                    </a:p>
                  </a:txBody>
                  <a:tcPr marL="73152" marR="73152" marT="0" marB="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800"/>
                          </a:solidFill>
                        </a:rPr>
                        <a:t>25%</a:t>
                      </a:r>
                      <a:endParaRPr lang="en-US" sz="1100" dirty="0"/>
                    </a:p>
                  </a:txBody>
                  <a:tcPr marL="73152" marR="73152" marT="0" marB="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Mission Precision</a:t>
                      </a:r>
                      <a:endParaRPr lang="en-US" sz="1100" dirty="0"/>
                    </a:p>
                  </a:txBody>
                  <a:tcPr marL="73152" marR="73152" marT="0" marB="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F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00"/>
                          </a:solidFill>
                        </a:rPr>
                        <a:t>Altitude / heading accuracy</a:t>
                      </a:r>
                      <a:endParaRPr lang="en-US" sz="1100" dirty="0"/>
                    </a:p>
                  </a:txBody>
                  <a:tcPr marL="73152" marR="73152" marT="0" marB="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</a:rPr>
                        <a:t>Sensor accuracy + computation</a:t>
                      </a:r>
                      <a:endParaRPr lang="en-US" sz="1100" dirty="0"/>
                    </a:p>
                  </a:txBody>
                  <a:tcPr marL="73152" marR="73152" marT="0" marB="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800"/>
                          </a:solidFill>
                        </a:rPr>
                        <a:t>25%</a:t>
                      </a:r>
                      <a:endParaRPr lang="en-US" sz="1100" dirty="0"/>
                    </a:p>
                  </a:txBody>
                  <a:tcPr marL="73152" marR="73152" marT="0" marB="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F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Energy Efficiency</a:t>
                      </a:r>
                      <a:endParaRPr lang="en-US" sz="1100" dirty="0"/>
                    </a:p>
                  </a:txBody>
                  <a:tcPr marL="73152" marR="73152" marT="0" marB="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00"/>
                          </a:solidFill>
                        </a:rPr>
                        <a:t>Pilot throttle management</a:t>
                      </a:r>
                      <a:endParaRPr lang="en-US" sz="1100" dirty="0"/>
                    </a:p>
                  </a:txBody>
                  <a:tcPr marL="73152" marR="73152" marT="0" marB="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</a:rPr>
                        <a:t>Battery / payload AI mgmt</a:t>
                      </a:r>
                      <a:endParaRPr lang="en-US" sz="1100" dirty="0"/>
                    </a:p>
                  </a:txBody>
                  <a:tcPr marL="73152" marR="73152" marT="0" marB="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800"/>
                          </a:solidFill>
                        </a:rPr>
                        <a:t>20%</a:t>
                      </a:r>
                      <a:endParaRPr lang="en-US" sz="1100" dirty="0"/>
                    </a:p>
                  </a:txBody>
                  <a:tcPr marL="73152" marR="73152" marT="0" marB="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Decision Speed</a:t>
                      </a:r>
                      <a:endParaRPr lang="en-US" sz="1100" dirty="0"/>
                    </a:p>
                  </a:txBody>
                  <a:tcPr marL="73152" marR="73152" marT="0" marB="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F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00"/>
                          </a:solidFill>
                        </a:rPr>
                        <a:t>Human adaptive choices</a:t>
                      </a:r>
                      <a:endParaRPr lang="en-US" sz="1100" dirty="0"/>
                    </a:p>
                  </a:txBody>
                  <a:tcPr marL="73152" marR="73152" marT="0" marB="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</a:rPr>
                        <a:t>Real-time AI rerouting</a:t>
                      </a:r>
                      <a:endParaRPr lang="en-US" sz="1100" dirty="0"/>
                    </a:p>
                  </a:txBody>
                  <a:tcPr marL="73152" marR="73152" marT="0" marB="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800"/>
                          </a:solidFill>
                        </a:rPr>
                        <a:t>15%</a:t>
                      </a:r>
                      <a:endParaRPr lang="en-US" sz="1100" dirty="0"/>
                    </a:p>
                  </a:txBody>
                  <a:tcPr marL="73152" marR="73152" marT="0" marB="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F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Recovery Index</a:t>
                      </a:r>
                      <a:endParaRPr lang="en-US" sz="1100" dirty="0"/>
                    </a:p>
                  </a:txBody>
                  <a:tcPr marL="73152" marR="73152" marT="0" marB="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00"/>
                          </a:solidFill>
                        </a:rPr>
                        <a:t>Error recovery under duress</a:t>
                      </a:r>
                      <a:endParaRPr lang="en-US" sz="1100" dirty="0"/>
                    </a:p>
                  </a:txBody>
                  <a:tcPr marL="73152" marR="73152" marT="0" marB="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2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</a:rPr>
                        <a:t>Fault tolerance + failover</a:t>
                      </a:r>
                      <a:endParaRPr lang="en-US" sz="1100" dirty="0"/>
                    </a:p>
                  </a:txBody>
                  <a:tcPr marL="73152" marR="73152" marT="0" marB="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800"/>
                          </a:solidFill>
                        </a:rPr>
                        <a:t>15%</a:t>
                      </a:r>
                      <a:endParaRPr lang="en-US" sz="1100" dirty="0"/>
                    </a:p>
                  </a:txBody>
                  <a:tcPr marL="73152" marR="73152" marT="0" marB="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956048"/>
            <a:ext cx="8503920" cy="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MRSSP AI scoring engine applies identical evaluation logic to both vehicle classes — enabling direct cross-class comparison and aggregate protocol performance measurement for certification purposes.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704442" cy="237744"/>
          </a:xfrm>
          <a:prstGeom prst="rect">
            <a:avLst/>
          </a:prstGeom>
          <a:solidFill>
            <a:srgbClr val="00D4FF">
              <a:alpha val="18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7044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GATE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6-Gate Mission Circuit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92608" y="1170432"/>
            <a:ext cx="1298448" cy="3547872"/>
          </a:xfrm>
          <a:prstGeom prst="rect">
            <a:avLst/>
          </a:prstGeom>
          <a:solidFill>
            <a:srgbClr val="1A2A4A"/>
          </a:solidFill>
          <a:ln w="12700">
            <a:solidFill>
              <a:srgbClr val="8A9BB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170432"/>
            <a:ext cx="1298448" cy="54864"/>
          </a:xfrm>
          <a:prstGeom prst="rect">
            <a:avLst/>
          </a:prstGeom>
          <a:solidFill>
            <a:srgbClr val="8A9BB5"/>
          </a:solidFill>
          <a:ln w="12700">
            <a:solidFill>
              <a:srgbClr val="8A9B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24358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92608" y="1508760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" y="2066544"/>
            <a:ext cx="1078992" cy="13716"/>
          </a:xfrm>
          <a:prstGeom prst="rect">
            <a:avLst/>
          </a:prstGeom>
          <a:solidFill>
            <a:srgbClr val="8A9BB5">
              <a:alpha val="50000"/>
            </a:srgbClr>
          </a:solidFill>
          <a:ln w="12700">
            <a:solidFill>
              <a:srgbClr val="8A9B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10312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MRSSP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02336" y="2560320"/>
            <a:ext cx="1078992" cy="13716"/>
          </a:xfrm>
          <a:prstGeom prst="rect">
            <a:avLst/>
          </a:prstGeom>
          <a:solidFill>
            <a:srgbClr val="FF6B00">
              <a:alpha val="3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60604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Altitude mapping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92608" y="2999232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Sensor sweep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09344" y="2633472"/>
            <a:ext cx="109728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1170432"/>
            <a:ext cx="1298448" cy="3547872"/>
          </a:xfrm>
          <a:prstGeom prst="rect">
            <a:avLst/>
          </a:prstGeom>
          <a:solidFill>
            <a:srgbClr val="1A2A4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737360" y="1170432"/>
            <a:ext cx="1298448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124358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737360" y="1508760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47088" y="2066544"/>
            <a:ext cx="1078992" cy="13716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210312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MRSSP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47088" y="2560320"/>
            <a:ext cx="1078992" cy="13716"/>
          </a:xfrm>
          <a:prstGeom prst="rect">
            <a:avLst/>
          </a:prstGeom>
          <a:solidFill>
            <a:srgbClr val="FF6B00">
              <a:alpha val="3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260604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Precision hover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37360" y="2999232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Data acquisition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054096" y="2633472"/>
            <a:ext cx="109728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82112" y="1170432"/>
            <a:ext cx="1298448" cy="3547872"/>
          </a:xfrm>
          <a:prstGeom prst="rect">
            <a:avLst/>
          </a:prstGeom>
          <a:solidFill>
            <a:srgbClr val="1A2A4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82112" y="1170432"/>
            <a:ext cx="1298448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82112" y="124358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182112" y="1508760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Waypoint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2066544"/>
            <a:ext cx="1078992" cy="13716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82112" y="210312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MRSSP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Road-Map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91840" y="2560320"/>
            <a:ext cx="1078992" cy="13716"/>
          </a:xfrm>
          <a:prstGeom prst="rect">
            <a:avLst/>
          </a:prstGeom>
          <a:solidFill>
            <a:srgbClr val="FF6B00">
              <a:alpha val="3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82112" y="260604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Route choice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182112" y="2999232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Path optimization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498848" y="2633472"/>
            <a:ext cx="109728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26864" y="1170432"/>
            <a:ext cx="1298448" cy="3547872"/>
          </a:xfrm>
          <a:prstGeom prst="rect">
            <a:avLst/>
          </a:prstGeom>
          <a:solidFill>
            <a:srgbClr val="1A2A4A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26864" y="1170432"/>
            <a:ext cx="1298448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26864" y="124358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4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626864" y="1508760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Sector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36592" y="2066544"/>
            <a:ext cx="1078992" cy="13716"/>
          </a:xfrm>
          <a:prstGeom prst="rect">
            <a:avLst/>
          </a:prstGeom>
          <a:solidFill>
            <a:srgbClr val="FF6B00">
              <a:alpha val="5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26864" y="210312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MRSSP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36592" y="2560320"/>
            <a:ext cx="1078992" cy="13716"/>
          </a:xfrm>
          <a:prstGeom prst="rect">
            <a:avLst/>
          </a:prstGeom>
          <a:solidFill>
            <a:srgbClr val="FF6B00">
              <a:alpha val="3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26864" y="260604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Full throttle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626864" y="2999232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Speed run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943600" y="2633472"/>
            <a:ext cx="109728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71616" y="1170432"/>
            <a:ext cx="1298448" cy="3547872"/>
          </a:xfrm>
          <a:prstGeom prst="rect">
            <a:avLst/>
          </a:prstGeom>
          <a:solidFill>
            <a:srgbClr val="1A2A4A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71616" y="1170432"/>
            <a:ext cx="1298448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71616" y="124358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5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071616" y="1508760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Push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81344" y="2066544"/>
            <a:ext cx="1078992" cy="13716"/>
          </a:xfrm>
          <a:prstGeom prst="rect">
            <a:avLst/>
          </a:prstGeom>
          <a:solidFill>
            <a:srgbClr val="FF6B00">
              <a:alpha val="5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71616" y="210312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MRSSP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81344" y="2560320"/>
            <a:ext cx="1078992" cy="13716"/>
          </a:xfrm>
          <a:prstGeom prst="rect">
            <a:avLst/>
          </a:prstGeom>
          <a:solidFill>
            <a:srgbClr val="FF6B00">
              <a:alpha val="3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71616" y="260604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Energy mgmt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071616" y="2999232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Efficiency score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88352" y="2633472"/>
            <a:ext cx="109728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16368" y="1170432"/>
            <a:ext cx="1298448" cy="3547872"/>
          </a:xfrm>
          <a:prstGeom prst="rect">
            <a:avLst/>
          </a:prstGeom>
          <a:solidFill>
            <a:srgbClr val="1A2A4A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516368" y="1170432"/>
            <a:ext cx="1298448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16368" y="124358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516368" y="1508760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Capture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626096" y="2066544"/>
            <a:ext cx="1078992" cy="13716"/>
          </a:xfrm>
          <a:prstGeom prst="rect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16368" y="210312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MRSSP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626096" y="2560320"/>
            <a:ext cx="1078992" cy="13716"/>
          </a:xfrm>
          <a:prstGeom prst="rect">
            <a:avLst/>
          </a:prstGeom>
          <a:solidFill>
            <a:srgbClr val="FF6B00">
              <a:alpha val="3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16368" y="260604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Debrief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516368" y="2999232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Log export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92608" y="4828032"/>
            <a:ext cx="8558784" cy="10972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Manned Class Mission    🔵 Unmanned Class Mission    Each gate scored independently and cross-class by the MRSSP AI engine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872691" cy="237744"/>
          </a:xfrm>
          <a:prstGeom prst="rect">
            <a:avLst/>
          </a:prstGeom>
          <a:solidFill>
            <a:srgbClr val="8B5CF6">
              <a:alpha val="18000"/>
            </a:srgbClr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8726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SAFETY &amp; REGULATORY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Mixed-Airspace Operations: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Keep It Safe.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1508760"/>
          </a:xfrm>
          <a:prstGeom prst="rect">
            <a:avLst/>
          </a:prstGeom>
          <a:solidFill>
            <a:srgbClr val="1A2A4A"/>
          </a:solidFill>
          <a:ln w="1143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08760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Airspace Segmentation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837944"/>
            <a:ext cx="254203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altitude separation: Unmanned craft operate 0-30m AGL. Manned craft operate 30-80m AGL. Class A/B corridors never physically intersect during concurrent runs.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743200" cy="1508760"/>
          </a:xfrm>
          <a:prstGeom prst="rect">
            <a:avLst/>
          </a:prstGeom>
          <a:solidFill>
            <a:srgbClr val="1A2A4A"/>
          </a:solidFill>
          <a:ln w="1143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417320"/>
            <a:ext cx="2743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508760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AI Collision Avoidance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1837944"/>
            <a:ext cx="254203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vehicle streams ADS-B equivalent telemetry to the MRSSP central arbiter at 50Hz. Predictive collision envelope calculated 8 seconds ahead. Autonomous emergency stop triggered at 95% confidence of conflict.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2743200" cy="1508760"/>
          </a:xfrm>
          <a:prstGeom prst="rect">
            <a:avLst/>
          </a:prstGeom>
          <a:solidFill>
            <a:srgbClr val="1A2A4A"/>
          </a:solidFill>
          <a:ln w="1143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417320"/>
            <a:ext cx="27432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508760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Regulatory Sandbox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81928" y="1837944"/>
            <a:ext cx="254203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operations structured under FAA Special Authority for Unlimited COA (UAS) + manned ultralight exemptions. Working framework mirrors DARPA Urban Challenge and Airspeeder's existing CASA/CAA approvals.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081528"/>
            <a:ext cx="2743200" cy="1508760"/>
          </a:xfrm>
          <a:prstGeom prst="rect">
            <a:avLst/>
          </a:prstGeom>
          <a:solidFill>
            <a:srgbClr val="1A2A4A"/>
          </a:solidFill>
          <a:ln w="1143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081528"/>
            <a:ext cx="27432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172968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Fail-Safe Protocol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" y="3502152"/>
            <a:ext cx="254203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Three-level abort: Vehicle-level auto-landing (1.2s), Ground station override (0.3s latency), Human RSO manual cutoff. MRSSP logs every abort event as validated safety data.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3081528"/>
            <a:ext cx="2743200" cy="1508760"/>
          </a:xfrm>
          <a:prstGeom prst="rect">
            <a:avLst/>
          </a:prstGeom>
          <a:solidFill>
            <a:srgbClr val="1A2A4A"/>
          </a:solidFill>
          <a:ln w="11430">
            <a:solidFill>
              <a:srgbClr val="FF6B0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3081528"/>
            <a:ext cx="274320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3172968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Medical &amp; Recovery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55848" y="3502152"/>
            <a:ext cx="254203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medical crew and vehicle recovery teams staged at each gate. All manned pilots wear emergency beacon-integrated suits. Jetson ONE ballistic parachute system active.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3081528"/>
            <a:ext cx="2743200" cy="1508760"/>
          </a:xfrm>
          <a:prstGeom prst="rect">
            <a:avLst/>
          </a:prstGeom>
          <a:solidFill>
            <a:srgbClr val="1A2A4A"/>
          </a:solidFill>
          <a:ln w="11430">
            <a:solidFill>
              <a:srgbClr val="00FF8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3081528"/>
            <a:ext cx="27432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3172968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Safety Data = Asset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81928" y="3502152"/>
            <a:ext cx="254203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incident, near-miss, and recovery is documented and published as MRSSP safety validation data. This is the exact dataset regulators and insurers need. No competitor has it.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620317" cy="237744"/>
          </a:xfrm>
          <a:prstGeom prst="rect">
            <a:avLst/>
          </a:prstGeom>
          <a:solidFill>
            <a:srgbClr val="00D4FF">
              <a:alpha val="18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62031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TECHNOLOGY STACK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Alpha Edge Builds &amp; Owns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Intelligence Layer.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1508760"/>
          </a:xfrm>
          <a:prstGeom prst="rect">
            <a:avLst/>
          </a:prstGeom>
          <a:solidFill>
            <a:srgbClr val="0D1A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64008" cy="1508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n8n Mission Orchestration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gate trigger automation, mission objective injection, performance pipeline, and event logging — running on Alpha Edge's live VPS infrastructure (n8n 1.94 / Docker).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743200" cy="1508760"/>
          </a:xfrm>
          <a:prstGeom prst="rect">
            <a:avLst/>
          </a:prstGeom>
          <a:solidFill>
            <a:srgbClr val="0D1A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417320"/>
            <a:ext cx="64008" cy="1508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50876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MRSSP Scoring 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874520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5-dimension scoring at 50Hz. Speed · Precision · Efficiency · Decision Speed · Recovery Index. Cross-class normalized and independently auditable.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2743200" cy="1508760"/>
          </a:xfrm>
          <a:prstGeom prst="rect">
            <a:avLst/>
          </a:prstGeom>
          <a:solidFill>
            <a:srgbClr val="0D1A35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417320"/>
            <a:ext cx="64008" cy="150876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50876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Live Broadcast AI Overlay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1874520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broadcast receives real-time mission status, vehicle AI decision visualizations, predictive outcome models, and sponsor-activated data callouts. TV-ready API.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081528"/>
            <a:ext cx="2743200" cy="1508760"/>
          </a:xfrm>
          <a:prstGeom prst="rect">
            <a:avLst/>
          </a:prstGeom>
          <a:solidFill>
            <a:srgbClr val="0D1A35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081528"/>
            <a:ext cx="64008" cy="150876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7296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Autonomous Vehicle API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538728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protocol for unmanned craft manufacturers to integrate their AI pilots into MRSSP gate evaluation. Vendor-neutral, telemetry-standardized, plug-and-compete.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3081528"/>
            <a:ext cx="2743200" cy="1508760"/>
          </a:xfrm>
          <a:prstGeom prst="rect">
            <a:avLst/>
          </a:prstGeom>
          <a:solidFill>
            <a:srgbClr val="0D1A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3081528"/>
            <a:ext cx="64008" cy="1508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317296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 &amp; Audit Layer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3538728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Fail2Ban + quantum-resistant comms for race command channel. All telemetry encrypted. Rclone-to-GDrive backup after each event. Independent audit log for regulators.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3081528"/>
            <a:ext cx="2743200" cy="1508760"/>
          </a:xfrm>
          <a:prstGeom prst="rect">
            <a:avLst/>
          </a:prstGeom>
          <a:solidFill>
            <a:srgbClr val="0D1A35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3081528"/>
            <a:ext cx="64008" cy="150876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17296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Local LLM Race Intelligence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3538728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 / Qwen 2.5 / DeepSeek running on Alpha Edge lab hardware for offline-capable race analysis, real-time coaching recommendations, and post-event AI debrief reports.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704442" cy="237744"/>
          </a:xfrm>
          <a:prstGeom prst="rect">
            <a:avLst/>
          </a:prstGeom>
          <a:solidFill>
            <a:srgbClr val="FF6B00">
              <a:alpha val="18000"/>
            </a:srgbClr>
          </a:solidFill>
          <a:ln w="1016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7044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00"/>
                </a:solidFill>
              </a:rPr>
              <a:t>PARTNER ECOSYSTEM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Partners. Zero Redundancy.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743200" cy="3703320"/>
          </a:xfrm>
          <a:prstGeom prst="rect">
            <a:avLst/>
          </a:prstGeom>
          <a:solidFill>
            <a:srgbClr val="0D1A35"/>
          </a:solidFill>
          <a:ln w="19050">
            <a:solidFill>
              <a:srgbClr val="8A9BB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2743200" cy="54864"/>
          </a:xfrm>
          <a:prstGeom prst="rect">
            <a:avLst/>
          </a:prstGeom>
          <a:solidFill>
            <a:srgbClr val="8A9BB5"/>
          </a:solidFill>
          <a:ln w="12700">
            <a:solidFill>
              <a:srgbClr val="8A9B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A9BB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AIRSPEEDER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6642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Racing Platform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2377440" cy="18288"/>
          </a:xfrm>
          <a:prstGeom prst="rect">
            <a:avLst/>
          </a:prstGeom>
          <a:solidFill>
            <a:srgbClr val="8A9BB5">
              <a:alpha val="40000"/>
            </a:srgbClr>
          </a:solidFill>
          <a:ln w="12700">
            <a:solidFill>
              <a:srgbClr val="8A9B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574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Mk4 racing craft &amp; fleet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production &amp; safety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Sporting governance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broadcast rights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roster &amp; credentials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8688" y="1170432"/>
            <a:ext cx="2743200" cy="3703320"/>
          </a:xfrm>
          <a:prstGeom prst="rect">
            <a:avLst/>
          </a:prstGeom>
          <a:solidFill>
            <a:srgbClr val="0D1A35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170432"/>
            <a:ext cx="27432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12801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JETSON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18688" y="16642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Manned Access &amp; Class A Light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01568" y="1965960"/>
            <a:ext cx="2377440" cy="18288"/>
          </a:xfrm>
          <a:prstGeom prst="rect">
            <a:avLst/>
          </a:prstGeom>
          <a:solidFill>
            <a:srgbClr val="FFB800">
              <a:alpha val="4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20574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ONE fleet provision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transport operations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 Light bracket pilots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Ultralight regulatory framework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&amp; VIP flight experiences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08192" y="1170432"/>
            <a:ext cx="2743200" cy="3703320"/>
          </a:xfrm>
          <a:prstGeom prst="rect">
            <a:avLst/>
          </a:prstGeom>
          <a:solidFill>
            <a:srgbClr val="0D1A3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08192" y="1170432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12801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ALPHA EDGE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08192" y="16642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 &amp; Format IP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91072" y="1965960"/>
            <a:ext cx="2377440" cy="18288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20574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MRSSP protocol &amp; Mission IP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scoring engine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AI overlay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package design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data certification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54096" y="2788920"/>
            <a:ext cx="502920" cy="502920"/>
          </a:xfrm>
          <a:prstGeom prst="ellipse">
            <a:avLst/>
          </a:prstGeom>
          <a:solidFill>
            <a:srgbClr val="1A2A4A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54096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943600" y="2788920"/>
            <a:ext cx="502920" cy="502920"/>
          </a:xfrm>
          <a:prstGeom prst="ellipse">
            <a:avLst/>
          </a:prstGeom>
          <a:solidFill>
            <a:srgbClr val="1A2A4A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367942" cy="237744"/>
          </a:xfrm>
          <a:prstGeom prst="rect">
            <a:avLst/>
          </a:prstGeom>
          <a:solidFill>
            <a:srgbClr val="00FF88">
              <a:alpha val="18000"/>
            </a:srgbClr>
          </a:solidFill>
          <a:ln w="1016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3679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88"/>
                </a:solidFill>
              </a:rPr>
              <a:t>REVENUE MODEL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Revenue Streams.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60520" cy="1234440"/>
          </a:xfrm>
          <a:prstGeom prst="rect">
            <a:avLst/>
          </a:prstGeom>
          <a:solidFill>
            <a:srgbClr val="0D1A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243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126187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Gate Naming Rights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554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 – $1M / gate / season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82880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own a gate. Brand embedded in mission objective, scoring callout, and broadcast overlay.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170432"/>
            <a:ext cx="4160520" cy="1234440"/>
          </a:xfrm>
          <a:prstGeom prst="rect">
            <a:avLst/>
          </a:prstGeom>
          <a:solidFill>
            <a:srgbClr val="0D1A35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0328" y="1243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40680" y="126187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MRCP Format License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1554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– $2M / season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0328" y="182880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the scoring engine and competition format to broadcasters, esports leagues, and sim racing platforms.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78608"/>
            <a:ext cx="4160520" cy="1234440"/>
          </a:xfrm>
          <a:prstGeom prst="rect">
            <a:avLst/>
          </a:prstGeom>
          <a:solidFill>
            <a:srgbClr val="0D1A35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05840" y="26700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MRSSP Certification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96265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 – $800K / report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323697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independently audited protocol validation reports to aviation regulators, insurance underwriters, and enterprise clients.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578608"/>
            <a:ext cx="4160520" cy="1234440"/>
          </a:xfrm>
          <a:prstGeom prst="rect">
            <a:avLst/>
          </a:prstGeom>
          <a:solidFill>
            <a:srgbClr val="0D1A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10328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40680" y="26700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Analytics Subscriptions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296265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 – $200K / team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0328" y="323697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Racing teams subscribe to real-time mission analytics, pilot AI models, and race-strategy recommendations.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986784"/>
            <a:ext cx="8412480" cy="1234440"/>
          </a:xfrm>
          <a:prstGeom prst="rect">
            <a:avLst/>
          </a:prstGeom>
          <a:solidFill>
            <a:srgbClr val="0D1A35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05840" y="4078224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Edge Consulting Pipeline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370832"/>
            <a:ext cx="7635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Unquantified enterprise upside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" y="4645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is a live demo for Fortune 500 AI integration prospects. Warm inbound at global scale.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788566" cy="237744"/>
          </a:xfrm>
          <a:prstGeom prst="rect">
            <a:avLst/>
          </a:prstGeom>
          <a:solidFill>
            <a:srgbClr val="FF6B00">
              <a:alpha val="18000"/>
            </a:srgbClr>
          </a:solidFill>
          <a:ln w="1016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7885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00"/>
                </a:solidFill>
              </a:rPr>
              <a:t>ACTIVATION 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90-Day Launch Plan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2724912" cy="3657600"/>
          </a:xfrm>
          <a:prstGeom prst="rect">
            <a:avLst/>
          </a:prstGeom>
          <a:solidFill>
            <a:srgbClr val="0D1A3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170432"/>
            <a:ext cx="2724912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4358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517904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Lock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2064" y="2011680"/>
            <a:ext cx="2395728" cy="18288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10312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Airspeeder + Jetson partnership NDAs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MRCP format IP documentation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Gate scoring algorithm v1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MRSSP validation framework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55264" y="1170432"/>
            <a:ext cx="2724912" cy="3657600"/>
          </a:xfrm>
          <a:prstGeom prst="rect">
            <a:avLst/>
          </a:prstGeom>
          <a:solidFill>
            <a:srgbClr val="0D1A35"/>
          </a:solidFill>
          <a:ln w="19050">
            <a:solidFill>
              <a:srgbClr val="FF6B0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55264" y="1170432"/>
            <a:ext cx="2724912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55264" y="124358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55264" y="1517904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Build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19856" y="2011680"/>
            <a:ext cx="2395728" cy="18288"/>
          </a:xfrm>
          <a:prstGeom prst="rect">
            <a:avLst/>
          </a:prstGeom>
          <a:solidFill>
            <a:srgbClr val="FF6B00">
              <a:alpha val="5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92424" y="210312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orchestration engine live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scoring prototype (real telemetry)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Unmanned vehicle API spec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airspace protocol draft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63056" y="1170432"/>
            <a:ext cx="2724912" cy="3657600"/>
          </a:xfrm>
          <a:prstGeom prst="rect">
            <a:avLst/>
          </a:prstGeom>
          <a:solidFill>
            <a:srgbClr val="0D1A35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1170432"/>
            <a:ext cx="2724912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24358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63056" y="1517904"/>
            <a:ext cx="2724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 Event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27648" y="2011680"/>
            <a:ext cx="2395728" cy="18288"/>
          </a:xfrm>
          <a:prstGeom prst="rect">
            <a:avLst/>
          </a:prstGeom>
          <a:solidFill>
            <a:srgbClr val="00FF88">
              <a:alpha val="5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0216" y="210312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gate mixed-class test event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MRSSP validation data captured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+ media package launch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investor close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620317" cy="237744"/>
          </a:xfrm>
          <a:prstGeom prst="rect">
            <a:avLst/>
          </a:prstGeom>
          <a:solidFill>
            <a:srgbClr val="8B5CF6">
              <a:alpha val="18000"/>
            </a:srgbClr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62031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COMPETITIVE MOAT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No One Can Copy This.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2743200" cy="1572768"/>
          </a:xfrm>
          <a:prstGeom prst="rect">
            <a:avLst/>
          </a:prstGeom>
          <a:solidFill>
            <a:srgbClr val="1A2A4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2743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353312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Format IP Ownership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" y="1719072"/>
            <a:ext cx="25420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MRSSP-to-gate mapping is proprietary Alpha Edge intellectual property. The Mission Racing Circuit format is a registerable competition IP asset.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261872"/>
            <a:ext cx="2743200" cy="1572768"/>
          </a:xfrm>
          <a:prstGeom prst="rect">
            <a:avLst/>
          </a:prstGeom>
          <a:solidFill>
            <a:srgbClr val="1A2A4A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61872"/>
            <a:ext cx="274320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353312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First-Mover Validation Data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55848" y="1719072"/>
            <a:ext cx="25420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12 months of MRSSP live-race data is irreplaceable. Competitors who enter later will always lack the longitudinal dataset.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743200" cy="1572768"/>
          </a:xfrm>
          <a:prstGeom prst="rect">
            <a:avLst/>
          </a:prstGeom>
          <a:solidFill>
            <a:srgbClr val="1A2A4A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261872"/>
            <a:ext cx="2743200" cy="457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353312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Exclusive Partner Lock-In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81928" y="1719072"/>
            <a:ext cx="25420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agreements with Airspeeder and Jetson create exclusive format rights in manned eVTOL racing. No other AI firm has this access.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980944"/>
            <a:ext cx="2743200" cy="1572768"/>
          </a:xfrm>
          <a:prstGeom prst="rect">
            <a:avLst/>
          </a:prstGeom>
          <a:solidFill>
            <a:srgbClr val="1A2A4A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80944"/>
            <a:ext cx="27432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72384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MRSSP Network Effect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29768" y="3438144"/>
            <a:ext cx="25420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vehicle manufacturer, sponsor, and regulator that integrates with MRCP strengthens the protocol's authority — compounding with each event.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2980944"/>
            <a:ext cx="2743200" cy="1572768"/>
          </a:xfrm>
          <a:prstGeom prst="rect">
            <a:avLst/>
          </a:prstGeom>
          <a:solidFill>
            <a:srgbClr val="1A2A4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2980944"/>
            <a:ext cx="2743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3072384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Infrastructure Already Built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55848" y="3438144"/>
            <a:ext cx="25420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Edge's n8n + VPS + local LLM infrastructure is live today. No build-from-scratch risk. Racing integration is a configuration, not a construction project.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72200" y="2980944"/>
            <a:ext cx="2743200" cy="1572768"/>
          </a:xfrm>
          <a:prstGeom prst="rect">
            <a:avLst/>
          </a:prstGeom>
          <a:solidFill>
            <a:srgbClr val="1A2A4A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2980944"/>
            <a:ext cx="27432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3072384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Cross-Industry Defensibility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81928" y="3438144"/>
            <a:ext cx="25420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Racing validates aviation. Aviation validates logistics. Logistics validates defense. Each market creates a new moat the next competitor must climb over.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9144" cy="5143500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29768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289304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148840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008376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867912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727448"/>
            <a:ext cx="9144000" cy="9144"/>
          </a:xfrm>
          <a:prstGeom prst="rect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15984" y="0"/>
            <a:ext cx="1828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28600"/>
            <a:ext cx="1097280" cy="237744"/>
          </a:xfrm>
          <a:prstGeom prst="rect">
            <a:avLst/>
          </a:prstGeom>
          <a:solidFill>
            <a:srgbClr val="FF6B00">
              <a:alpha val="18000"/>
            </a:srgbClr>
          </a:solidFill>
          <a:ln w="10160">
            <a:solidFill>
              <a:srgbClr val="FF6B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286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00"/>
                </a:solidFill>
              </a:rPr>
              <a:t>THE ASK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530352"/>
            <a:ext cx="8229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The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of Flight.</a:t>
            </a:r>
            <a:endParaRPr lang="en-US" sz="5200" dirty="0"/>
          </a:p>
        </p:txBody>
      </p:sp>
      <p:sp>
        <p:nvSpPr>
          <p:cNvPr id="39" name="Shape 37"/>
          <p:cNvSpPr/>
          <p:nvPr/>
        </p:nvSpPr>
        <p:spPr>
          <a:xfrm>
            <a:off x="457200" y="2240280"/>
            <a:ext cx="8229600" cy="576072"/>
          </a:xfrm>
          <a:prstGeom prst="rect">
            <a:avLst/>
          </a:prstGeom>
          <a:solidFill>
            <a:srgbClr val="0D1A35"/>
          </a:solidFill>
          <a:ln w="10160">
            <a:solidFill>
              <a:srgbClr val="00D4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2240280"/>
            <a:ext cx="54864" cy="5760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2286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8368" y="2523744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agreements with Airspeeder + Jetson. 30-min call to initiate NDA and format co-development.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2907792"/>
            <a:ext cx="8229600" cy="576072"/>
          </a:xfrm>
          <a:prstGeom prst="rect">
            <a:avLst/>
          </a:prstGeom>
          <a:solidFill>
            <a:srgbClr val="0D1A35"/>
          </a:solidFill>
          <a:ln w="10160">
            <a:solidFill>
              <a:srgbClr val="FF6B0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" y="2907792"/>
            <a:ext cx="54864" cy="57607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29535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Capital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8368" y="319125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$750K to build MRCP v1 scoring engine, pilot event production, and regulatory data framework.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" y="3575304"/>
            <a:ext cx="8229600" cy="576072"/>
          </a:xfrm>
          <a:prstGeom prst="rect">
            <a:avLst/>
          </a:prstGeom>
          <a:solidFill>
            <a:srgbClr val="0D1A35"/>
          </a:solidFill>
          <a:ln w="10160">
            <a:solidFill>
              <a:srgbClr val="FFB80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7200" y="3575304"/>
            <a:ext cx="54864" cy="57607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" y="36210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Sponsor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8368" y="385876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founding brand: full naming rights to Gate 1 for the entire inaugural season. First-mover pricing.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57200" y="4242816"/>
            <a:ext cx="8229600" cy="576072"/>
          </a:xfrm>
          <a:prstGeom prst="rect">
            <a:avLst/>
          </a:prstGeom>
          <a:solidFill>
            <a:srgbClr val="0D1A35"/>
          </a:solidFill>
          <a:ln w="10160">
            <a:solidFill>
              <a:srgbClr val="8B5C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4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57200" y="4242816"/>
            <a:ext cx="54864" cy="5760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" y="42885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Partner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58368" y="45262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/ EASA / CASA innovation programme enrollment to fast-track mixed-airspace approval for pilot event.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contact@alphaedge.ai  ·  alphatedge.ai  ·  Schedule Discovery Call →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MRCP v2 — Alpha Edge × Airspeeder × Jetson — Investor Deck</dc:title>
  <dc:subject>PptxGenJS Presentation</dc:subject>
  <dc:creator>PptxGenJS</dc:creator>
  <cp:lastModifiedBy>PptxGenJS</cp:lastModifiedBy>
  <cp:revision>1</cp:revision>
  <dcterms:created xsi:type="dcterms:W3CDTF">2026-03-01T06:02:27Z</dcterms:created>
  <dcterms:modified xsi:type="dcterms:W3CDTF">2026-03-01T06:02:27Z</dcterms:modified>
</cp:coreProperties>
</file>